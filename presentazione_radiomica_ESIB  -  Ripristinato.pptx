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042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Apro la presentazione introducendo l’obiettivo generale: costruire una pipeline completa per passare dalla segmentazione delle MRI cerebrali all’estrazione delle feature radiomiche e alla classificazione mediante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questa slide chiarisco il razionale: l’immagine MRI viene trasformata in dati numerici attraverso la radiomica, e questi dati diventano input per un classificatore.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Mostro il punto di partenza: la maschera viene verificata in 3D Slicer. La parte importante è sottolineare che il controllo visivo è necessario, ma non basta per l’estrazione radiomica.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descrivo le librerie usate e la trasformazione del dato: da immagine medicale a matrice numerica e poi a feature quantitative.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Spiego la differenza tra visualizzazione in NumPy e geometria medicale. Il punto chiave è che PyRadiomics richiede coerenza spaziale tra MRI e maschera.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 soggetto non demente confronto la visualizzazione con e senza resampling. L’obiettivo non è mostrare solo l’immagine, ma dimostrare perché il controllo geometrico è un passaggio necessario.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al caso demente e ribadisco che il resampling è un passaggio metodologico, non un ritocco grafico. Serve a rendere la maschera compatibile con l’immagine.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Descrivo l’estrazione radiomica: l’immagine segmentata produce una tabella di feature, che rappresenta il ponte tra imaging e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slide metodologica centrale. Spiego le fasi del codice MATLAB e sottolineo che la feature selection avviene solo sul training set per evitare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spiego ReliefF: non è un classificatore, ma una selezione di feature. Evidenzio anche il concetto di data leakage, centrale per rendere il lavoro metodologicamente corretto.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slide dei risultati. Il messaggio principale è che 30 feature migliorano l’accuracy e il riconoscimento della classe non_demente, anche se il modello resta più forte sulla classe demente.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Concludo sottolineando i tre aspetti fondamentali: correttezza della pipeline, ruolo della feature selection e necessità di interpretare i risultati con cautela perché il dataset è limitato.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slide può essere usata come supporto finale o come traccia personale. Serve a mantenere l’esposizione ordinata e coerente.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medical_tech_themed_digital_back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987552"/>
            <a:ext cx="5486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Analisi radiomica e classificazione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 immagini MRI cerebrali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04088" y="2359152"/>
            <a:ext cx="1280160" cy="0"/>
          </a:xfrm>
          <a:prstGeom prst="line">
            <a:avLst/>
          </a:prstGeom>
          <a:noFill/>
          <a:ln w="508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685800" y="25786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F4FF"/>
                </a:solidFill>
              </a:rPr>
              <a:t>Pipeline Python–PyRadiomics e Machine Learning in MATLAB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6080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CE8"/>
                </a:solidFill>
              </a:rPr>
              <a:t>Project Work ESIB • Segmentazione, feature extraction e classificazione demente/non_demente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del project work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6072" y="1143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6EA4"/>
                </a:solidFill>
              </a:rPr>
              <a:t>Dalla regione anatomica alla decisione computazionale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691639"/>
            <a:ext cx="5806440" cy="38221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Segmentare una regione di interesse su MRI </a:t>
            </a:r>
            <a:r>
              <a:rPr lang="en-US" sz="1600" dirty="0" err="1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cerebrali</a:t>
            </a:r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Estrarre feature radiomiche quantitative con </a:t>
            </a:r>
            <a:r>
              <a:rPr lang="en-US" sz="1600" dirty="0" err="1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PyRadiomics</a:t>
            </a:r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Costruire un dataset tabellare con soggetti dementi e non </a:t>
            </a:r>
            <a:r>
              <a:rPr lang="en-US" sz="1600" dirty="0" err="1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dementi</a:t>
            </a:r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Applicare feature selection e classificazione supervisionata in MATLAB.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20840" y="1572768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0" name="Shape 8"/>
          <p:cNvSpPr/>
          <p:nvPr/>
        </p:nvSpPr>
        <p:spPr>
          <a:xfrm>
            <a:off x="6885432" y="2075688"/>
            <a:ext cx="3968496" cy="0"/>
          </a:xfrm>
          <a:prstGeom prst="line">
            <a:avLst/>
          </a:prstGeom>
          <a:noFill/>
          <a:ln w="254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885432" y="17373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63042"/>
                </a:solidFill>
              </a:rPr>
              <a:t>Obbiettivi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85432" y="2249424"/>
            <a:ext cx="39684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2971800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885432" y="3474720"/>
            <a:ext cx="3968496" cy="0"/>
          </a:xfrm>
          <a:prstGeom prst="line">
            <a:avLst/>
          </a:prstGeom>
          <a:noFill/>
          <a:ln w="254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885432" y="313639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Approccio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85432" y="3648456"/>
            <a:ext cx="39684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Pipeline riproducibile: visualizzazione, controllo geometrico, resampling, estrazione feature e classificazione.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4370832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885432" y="4873752"/>
            <a:ext cx="3968496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885432" y="453542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85432" y="5047488"/>
            <a:ext cx="39684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Dataset radiomico, ranking ReliefF, modello Fine KNN e matrice di confusione finale.</a:t>
            </a:r>
            <a:endParaRPr lang="en-US" sz="1150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0C9BF8D-CFE6-E6E9-834C-8049E46E0501}"/>
              </a:ext>
            </a:extLst>
          </p:cNvPr>
          <p:cNvSpPr txBox="1"/>
          <p:nvPr/>
        </p:nvSpPr>
        <p:spPr>
          <a:xfrm>
            <a:off x="464664" y="2000748"/>
            <a:ext cx="152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Passi seguiti: 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6A678BA-ADDE-D549-77D9-9F2168584F8E}"/>
              </a:ext>
            </a:extLst>
          </p:cNvPr>
          <p:cNvSpPr txBox="1"/>
          <p:nvPr/>
        </p:nvSpPr>
        <p:spPr>
          <a:xfrm>
            <a:off x="6885432" y="2147168"/>
            <a:ext cx="39044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Estrapolare dataset di una ROI segmentata con </a:t>
            </a:r>
            <a:r>
              <a:rPr lang="it-IT" sz="1100" dirty="0" err="1"/>
              <a:t>python</a:t>
            </a:r>
            <a:r>
              <a:rPr lang="it-IT" sz="1100" dirty="0"/>
              <a:t> e istruire l’intelligenza artificiale a riconoscere pazienti dementi da non dementi.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Segmentazione e controllo in 3D Slicer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pic>
        <p:nvPicPr>
          <p:cNvPr id="7" name="Image 0" descr="/mnt/data/docx_images/image1.png"/>
          <p:cNvPicPr>
            <a:picLocks noChangeAspect="1"/>
          </p:cNvPicPr>
          <p:nvPr/>
        </p:nvPicPr>
        <p:blipFill>
          <a:blip r:embed="rId3"/>
          <a:srcRect l="4062" r="4062"/>
          <a:stretch/>
        </p:blipFill>
        <p:spPr>
          <a:xfrm>
            <a:off x="658368" y="1234440"/>
            <a:ext cx="667512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2344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7799832" y="1737360"/>
            <a:ext cx="3145536" cy="0"/>
          </a:xfrm>
          <a:prstGeom prst="line">
            <a:avLst/>
          </a:prstGeom>
          <a:noFill/>
          <a:ln w="254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799832" y="139903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ROI segmentata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99832" y="1911096"/>
            <a:ext cx="3145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Maschera della sostanza bianca frontale sovrapposta all’immagine MRI.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265176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7799832" y="3154680"/>
            <a:ext cx="3145536" cy="0"/>
          </a:xfrm>
          <a:prstGeom prst="line">
            <a:avLst/>
          </a:prstGeom>
          <a:noFill/>
          <a:ln w="254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799832" y="281635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Controllo visivo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99832" y="3328416"/>
            <a:ext cx="3145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La visualizzazione multi-piano permette di valutare coerenza e posizione della maschera.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35240" y="40690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7799832" y="4572000"/>
            <a:ext cx="3145536" cy="0"/>
          </a:xfrm>
          <a:prstGeom prst="line">
            <a:avLst/>
          </a:prstGeom>
          <a:noFill/>
          <a:ln w="25400">
            <a:solidFill>
              <a:srgbClr val="CE7B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7799832" y="423367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Criticità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99832" y="4745736"/>
            <a:ext cx="3145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La coerenza visiva non garantisce automaticamente compatibilità geometrica in PyRadiomics.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Passaggio a Python: librerie e manipolazione dei dati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6EA4"/>
                </a:solidFill>
              </a:rPr>
              <a:t>Ambiente di elaborazione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850392" y="2194560"/>
            <a:ext cx="4242816" cy="0"/>
          </a:xfrm>
          <a:prstGeom prst="line">
            <a:avLst/>
          </a:prstGeom>
          <a:noFill/>
          <a:ln w="254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" y="185623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SimpleITK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368296"/>
            <a:ext cx="424281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lettura immagini .nrrd e gestione geometria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97880" y="169164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6062472" y="2194560"/>
            <a:ext cx="4242816" cy="0"/>
          </a:xfrm>
          <a:prstGeom prst="line">
            <a:avLst/>
          </a:prstGeom>
          <a:noFill/>
          <a:ln w="254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062472" y="185623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NumPy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62472" y="2368296"/>
            <a:ext cx="424281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conversione in matrici e manipolazione voxel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50392" y="3611880"/>
            <a:ext cx="4242816" cy="0"/>
          </a:xfrm>
          <a:prstGeom prst="line">
            <a:avLst/>
          </a:prstGeom>
          <a:noFill/>
          <a:ln w="254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50392" y="327355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PyRadiomics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3785616"/>
            <a:ext cx="424281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estrazione delle feature radiomiche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97880" y="310896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062472" y="3611880"/>
            <a:ext cx="4242816" cy="0"/>
          </a:xfrm>
          <a:prstGeom prst="line">
            <a:avLst/>
          </a:prstGeom>
          <a:noFill/>
          <a:ln w="254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062472" y="327355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Pandas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62472" y="3785616"/>
            <a:ext cx="424281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organizzazione dati ed esportazione Excel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920240" y="4983480"/>
            <a:ext cx="8366760" cy="658368"/>
          </a:xfrm>
          <a:prstGeom prst="roundRect">
            <a:avLst/>
          </a:prstGeom>
          <a:solidFill>
            <a:srgbClr val="EBF7FA"/>
          </a:solidFill>
          <a:ln w="12700">
            <a:solidFill>
              <a:srgbClr val="C6E6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148840" y="5184648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42"/>
                </a:solidFill>
              </a:rPr>
              <a:t>MRI + maschera → array NumPy → slice significativa → ROI → feature radiomiche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geometrico: perché serve il resampling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70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D1C21"/>
                </a:solidFill>
              </a:rPr>
              <a:t>Errore osservato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42"/>
                </a:solidFill>
              </a:rPr>
              <a:t>Image/Mask geometry mismatch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49377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matrici possono avere stessa dimensione ma geometria fisica diversa.</a:t>
            </a:r>
            <a:endParaRPr lang="en-US" sz="1500" dirty="0"/>
          </a:p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PyRadiomics controlla origin, spacing e direction, non solo lo shape.</a:t>
            </a:r>
            <a:endParaRPr lang="en-US" sz="1500" dirty="0"/>
          </a:p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resampling porta la maschera sulla griglia della MRI di riferimento.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4892040"/>
            <a:ext cx="411480" cy="411480"/>
          </a:xfrm>
          <a:prstGeom prst="ellipse">
            <a:avLst/>
          </a:prstGeom>
          <a:solidFill>
            <a:srgbClr val="CE7B2C"/>
          </a:solidFill>
          <a:ln w="12700">
            <a:solidFill>
              <a:srgbClr val="CE7B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005840" y="49834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4892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42"/>
                </a:solidFill>
              </a:rPr>
              <a:t>Maschera originale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5148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87A"/>
                </a:solidFill>
              </a:rPr>
              <a:t>Possibile geometria non coerente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5102352"/>
            <a:ext cx="502920" cy="0"/>
          </a:xfrm>
          <a:prstGeom prst="line">
            <a:avLst/>
          </a:prstGeom>
          <a:noFill/>
          <a:ln w="17780">
            <a:solidFill>
              <a:srgbClr val="5268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206240" y="4892040"/>
            <a:ext cx="411480" cy="411480"/>
          </a:xfrm>
          <a:prstGeom prst="ellipse">
            <a:avLst/>
          </a:prstGeom>
          <a:solidFill>
            <a:srgbClr val="1C6EA4"/>
          </a:solidFill>
          <a:ln w="127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206240" y="49834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4892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42"/>
                </a:solidFill>
              </a:rPr>
              <a:t>Resampling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5148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87A"/>
                </a:solidFill>
              </a:rPr>
              <a:t>nearest neighbor, pixel default = 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12280" y="5102352"/>
            <a:ext cx="320040" cy="0"/>
          </a:xfrm>
          <a:prstGeom prst="line">
            <a:avLst/>
          </a:prstGeom>
          <a:noFill/>
          <a:ln w="17780">
            <a:solidFill>
              <a:srgbClr val="5268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406640" y="4892040"/>
            <a:ext cx="411480" cy="4114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406640" y="49834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48920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42"/>
                </a:solidFill>
              </a:rPr>
              <a:t>Maschera coerente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0" y="5148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87A"/>
                </a:solidFill>
              </a:rPr>
              <a:t>compatibile con PyRadiomics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1389888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6702552" y="1892808"/>
            <a:ext cx="3877056" cy="0"/>
          </a:xfrm>
          <a:prstGeom prst="line">
            <a:avLst/>
          </a:prstGeom>
          <a:noFill/>
          <a:ln w="254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702552" y="155448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Principio tecnico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02552" y="2066544"/>
            <a:ext cx="387705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Il resampling non cambia il significato anatomico della ROI: ricostruisce la maschera nello stesso sistema di riferimento dell’immagine MRI.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non demente: effetto del resampling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50392" y="120700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 resampling</a:t>
            </a:r>
            <a:endParaRPr lang="en-US" sz="850" dirty="0"/>
          </a:p>
        </p:txBody>
      </p:sp>
      <p:pic>
        <p:nvPicPr>
          <p:cNvPr id="9" name="Image 0" descr="/mnt/data/docx_image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63" y="1609343"/>
            <a:ext cx="11155680" cy="197509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" y="373075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CE7B2C"/>
          </a:solidFill>
          <a:ln w="12700">
            <a:solidFill>
              <a:srgbClr val="CE7B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850392" y="3794760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Senza resampling</a:t>
            </a:r>
            <a:endParaRPr lang="en-US" sz="850" dirty="0"/>
          </a:p>
        </p:txBody>
      </p:sp>
      <p:pic>
        <p:nvPicPr>
          <p:cNvPr id="12" name="Image 1" descr="/mnt/data/docx_images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31" y="4096512"/>
            <a:ext cx="5190978" cy="1874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18647" y="4242801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6EA4"/>
                </a:solidFill>
              </a:rPr>
              <a:t>Osservazione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060809" y="4313582"/>
            <a:ext cx="448056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resampling migliora la coerenza tra immagine e maschera.</a:t>
            </a:r>
            <a:endParaRPr lang="en-US" sz="1500" dirty="0"/>
          </a:p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ROI viene usata per isolare la regione di interesse.</a:t>
            </a:r>
            <a:endParaRPr lang="en-US" sz="1500" dirty="0"/>
          </a:p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slice mostrata è scelta in base all’area maggiore della maschera.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demente: effetto del resampling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50392" y="1207008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 resampling</a:t>
            </a:r>
            <a:endParaRPr lang="en-US" sz="850" dirty="0"/>
          </a:p>
        </p:txBody>
      </p:sp>
      <p:pic>
        <p:nvPicPr>
          <p:cNvPr id="9" name="Image 0" descr="/mnt/data/docx_image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" y="1508760"/>
            <a:ext cx="5209794" cy="1965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" y="370332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CE7B2C"/>
          </a:solidFill>
          <a:ln w="12700">
            <a:solidFill>
              <a:srgbClr val="CE7B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850392" y="376732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Senza resampling</a:t>
            </a:r>
            <a:endParaRPr lang="en-US" sz="850" dirty="0"/>
          </a:p>
        </p:txBody>
      </p:sp>
      <p:pic>
        <p:nvPicPr>
          <p:cNvPr id="12" name="Image 1" descr="/mnt/data/docx_images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16" y="4069080"/>
            <a:ext cx="4992408" cy="1874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13716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6EA4"/>
                </a:solidFill>
              </a:rPr>
              <a:t>Impatto sulla pipeline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83680" y="1828800"/>
            <a:ext cx="44805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maschera corretta consente l’estrazione stabile delle feature.</a:t>
            </a:r>
            <a:endParaRPr lang="en-US" sz="1500" dirty="0"/>
          </a:p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coerenza geometrica riduce errori di interpretazione della ROI.</a:t>
            </a:r>
            <a:endParaRPr lang="en-US" sz="1500" dirty="0"/>
          </a:p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fase di preprocessing influenza direttamente la qualità del dataset radiomico.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Estrazione delle feature radiomiche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6EA4"/>
                </a:solidFill>
              </a:rPr>
              <a:t>Da voxel a variabili quantitative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2286000" cy="914400"/>
          </a:xfrm>
          <a:prstGeom prst="chevron">
            <a:avLst/>
          </a:prstGeom>
          <a:solidFill>
            <a:srgbClr val="1C6E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32688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ROI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87A"/>
                </a:solidFill>
              </a:rPr>
              <a:t>maschera applicata alla MRI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11880" y="1965960"/>
            <a:ext cx="2286000" cy="914400"/>
          </a:xfrm>
          <a:prstGeom prst="chevron">
            <a:avLst/>
          </a:prstGeom>
          <a:solidFill>
            <a:srgbClr val="69C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721608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PyRadiomics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87A"/>
                </a:solidFill>
              </a:rPr>
              <a:t>estrazione feature shape, first-order, texture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2286000" cy="914400"/>
          </a:xfrm>
          <a:prstGeom prst="chevron">
            <a:avLst/>
          </a:prstGeom>
          <a:solidFill>
            <a:srgbClr val="1C6E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510528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Pandas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87A"/>
                </a:solidFill>
              </a:rPr>
              <a:t>organizzazione in tabelle Excel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9720" y="1965960"/>
            <a:ext cx="2286000" cy="914400"/>
          </a:xfrm>
          <a:prstGeom prst="chevron">
            <a:avLst/>
          </a:prstGeom>
          <a:solidFill>
            <a:srgbClr val="69C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299448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Dataset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8116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87A"/>
                </a:solidFill>
              </a:rPr>
              <a:t>file separati per dementi e non dementi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4133088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1078992" y="4636008"/>
            <a:ext cx="4425696" cy="0"/>
          </a:xfrm>
          <a:prstGeom prst="line">
            <a:avLst/>
          </a:prstGeom>
          <a:noFill/>
          <a:ln w="254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078992" y="429768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Output radiomico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4791058"/>
            <a:ext cx="44256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Due file Excel con feature </a:t>
            </a:r>
            <a:r>
              <a:rPr lang="en-US" sz="1150" dirty="0" err="1">
                <a:solidFill>
                  <a:srgbClr val="52687A"/>
                </a:solidFill>
              </a:rPr>
              <a:t>frontali</a:t>
            </a:r>
            <a:r>
              <a:rPr lang="en-US" sz="1150" dirty="0">
                <a:solidFill>
                  <a:srgbClr val="52687A"/>
                </a:solidFill>
              </a:rPr>
              <a:t> </a:t>
            </a:r>
            <a:r>
              <a:rPr lang="en-US" sz="1150" dirty="0" err="1">
                <a:solidFill>
                  <a:srgbClr val="52687A"/>
                </a:solidFill>
              </a:rPr>
              <a:t>destra</a:t>
            </a:r>
            <a:r>
              <a:rPr lang="en-US" sz="1150" dirty="0">
                <a:solidFill>
                  <a:srgbClr val="52687A"/>
                </a:solidFill>
              </a:rPr>
              <a:t> e sinistra per soggetti dementi e non dementi.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133088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6565392" y="4636008"/>
            <a:ext cx="4425696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565392" y="429768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Uso successivo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65392" y="4809744"/>
            <a:ext cx="44256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Le feature diventano predittori per la classificazione supervisionata in MATLAB.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MATLAB per Machine Learning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98448"/>
            <a:ext cx="640080" cy="347472"/>
          </a:xfrm>
          <a:prstGeom prst="rect">
            <a:avLst/>
          </a:prstGeom>
          <a:solidFill>
            <a:srgbClr val="1C6EA4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71600" y="1298448"/>
            <a:ext cx="3657600" cy="347472"/>
          </a:xfrm>
          <a:prstGeom prst="rect">
            <a:avLst/>
          </a:prstGeom>
          <a:solidFill>
            <a:srgbClr val="1C6EA4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417320" y="1371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Operazione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298448"/>
            <a:ext cx="6400800" cy="347472"/>
          </a:xfrm>
          <a:prstGeom prst="rect">
            <a:avLst/>
          </a:prstGeom>
          <a:solidFill>
            <a:srgbClr val="1C6EA4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74920" y="1371600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Scopo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1645920"/>
            <a:ext cx="6400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77240" y="1719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371600" y="1645920"/>
            <a:ext cx="3657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417320" y="17190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Lettura file Excel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029200" y="1645920"/>
            <a:ext cx="6400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74920" y="17190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Importare le feature radiomiche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1520" y="2084832"/>
            <a:ext cx="640080" cy="438912"/>
          </a:xfrm>
          <a:prstGeom prst="rect">
            <a:avLst/>
          </a:prstGeom>
          <a:solidFill>
            <a:srgbClr val="F8FBFC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77240" y="21579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2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371600" y="2084832"/>
            <a:ext cx="3657600" cy="438912"/>
          </a:xfrm>
          <a:prstGeom prst="rect">
            <a:avLst/>
          </a:prstGeom>
          <a:solidFill>
            <a:srgbClr val="F8FBFC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417320" y="21579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Creazione etichette malato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029200" y="2084832"/>
            <a:ext cx="6400800" cy="438912"/>
          </a:xfrm>
          <a:prstGeom prst="rect">
            <a:avLst/>
          </a:prstGeom>
          <a:solidFill>
            <a:srgbClr val="F8FBFC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074920" y="21579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Definire le classi demente / non_demente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31520" y="2523744"/>
            <a:ext cx="6400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77240" y="259689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3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371600" y="2523744"/>
            <a:ext cx="3657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417320" y="25968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Split 70/30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029200" y="2523744"/>
            <a:ext cx="6400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074920" y="259689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Separare training e validation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31520" y="2962656"/>
            <a:ext cx="640080" cy="438912"/>
          </a:xfrm>
          <a:prstGeom prst="rect">
            <a:avLst/>
          </a:prstGeom>
          <a:solidFill>
            <a:srgbClr val="F8FBFC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77240" y="30358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4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1371600" y="2962656"/>
            <a:ext cx="3657600" cy="438912"/>
          </a:xfrm>
          <a:prstGeom prst="rect">
            <a:avLst/>
          </a:prstGeom>
          <a:solidFill>
            <a:srgbClr val="F8FBFC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417320" y="30358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ReliefF su training set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029200" y="2962656"/>
            <a:ext cx="6400800" cy="438912"/>
          </a:xfrm>
          <a:prstGeom prst="rect">
            <a:avLst/>
          </a:prstGeom>
          <a:solidFill>
            <a:srgbClr val="F8FBFC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5074920" y="303580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Selezionare le feature più informative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31520" y="3401568"/>
            <a:ext cx="6400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777240" y="34747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5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1371600" y="3401568"/>
            <a:ext cx="3657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1417320" y="3474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TrainData_relief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029200" y="3401568"/>
            <a:ext cx="6400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5074920" y="347472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Addestrare con feature selezionate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731520" y="3840480"/>
            <a:ext cx="640080" cy="438912"/>
          </a:xfrm>
          <a:prstGeom prst="rect">
            <a:avLst/>
          </a:prstGeom>
          <a:solidFill>
            <a:srgbClr val="F8FBFC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777240" y="39136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6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1371600" y="3840480"/>
            <a:ext cx="3657600" cy="438912"/>
          </a:xfrm>
          <a:prstGeom prst="rect">
            <a:avLst/>
          </a:prstGeom>
          <a:solidFill>
            <a:srgbClr val="F8FBFC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1417320" y="39136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ValidationData_relief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5029200" y="3840480"/>
            <a:ext cx="6400800" cy="438912"/>
          </a:xfrm>
          <a:prstGeom prst="rect">
            <a:avLst/>
          </a:prstGeom>
          <a:solidFill>
            <a:srgbClr val="F8FBFC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5074920" y="39136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Test finale su dati mai usati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731520" y="4279392"/>
            <a:ext cx="6400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777240" y="435254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7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1371600" y="4279392"/>
            <a:ext cx="3657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1417320" y="43525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Matrice di confusione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5029200" y="4279392"/>
            <a:ext cx="64008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5074920" y="435254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63042"/>
                </a:solidFill>
              </a:rPr>
              <a:t>Valutare accuratezza e classi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914400" y="5577840"/>
            <a:ext cx="103327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6" name="Shape 54"/>
          <p:cNvSpPr/>
          <p:nvPr/>
        </p:nvSpPr>
        <p:spPr>
          <a:xfrm>
            <a:off x="1078992" y="6080760"/>
            <a:ext cx="10003536" cy="0"/>
          </a:xfrm>
          <a:prstGeom prst="line">
            <a:avLst/>
          </a:prstGeom>
          <a:noFill/>
          <a:ln w="254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1078992" y="5742432"/>
            <a:ext cx="10003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Principio metodologico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078992" y="6254496"/>
            <a:ext cx="1000353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ReliefF viene applicato solo al training set: il validation set rimane esterno fino alla verifica finale.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ReliefF: feature selection e prevenzione del data leakage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11480" cy="411480"/>
          </a:xfrm>
          <a:prstGeom prst="ellipse">
            <a:avLst/>
          </a:prstGeom>
          <a:solidFill>
            <a:srgbClr val="1C6EA4"/>
          </a:solidFill>
          <a:ln w="127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42"/>
                </a:solidFill>
              </a:rPr>
              <a:t>Split 70/30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673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87A"/>
                </a:solidFill>
              </a:rPr>
              <a:t>70 pazienti training • 30 validation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1618488"/>
            <a:ext cx="685800" cy="0"/>
          </a:xfrm>
          <a:prstGeom prst="line">
            <a:avLst/>
          </a:prstGeom>
          <a:noFill/>
          <a:ln w="17780">
            <a:solidFill>
              <a:srgbClr val="5268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0" y="1417320"/>
            <a:ext cx="411480" cy="411480"/>
          </a:xfrm>
          <a:prstGeom prst="ellipse">
            <a:avLst/>
          </a:prstGeom>
          <a:solidFill>
            <a:srgbClr val="69C7D8"/>
          </a:solidFill>
          <a:ln w="127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72000" y="1508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1417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42"/>
                </a:solidFill>
              </a:rPr>
              <a:t>ReliefF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673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87A"/>
                </a:solidFill>
              </a:rPr>
              <a:t>ranking delle feature sul training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43800" y="1618488"/>
            <a:ext cx="685800" cy="0"/>
          </a:xfrm>
          <a:prstGeom prst="line">
            <a:avLst/>
          </a:prstGeom>
          <a:noFill/>
          <a:ln w="17780">
            <a:solidFill>
              <a:srgbClr val="5268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321040" y="1417320"/>
            <a:ext cx="411480" cy="4114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321040" y="1508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0" y="1417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42"/>
                </a:solidFill>
              </a:rPr>
              <a:t>Top feature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1673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87A"/>
                </a:solidFill>
              </a:rPr>
              <a:t>15 o 30 feature selezionate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297180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1078992" y="3474720"/>
            <a:ext cx="4608576" cy="0"/>
          </a:xfrm>
          <a:prstGeom prst="line">
            <a:avLst/>
          </a:prstGeom>
          <a:noFill/>
          <a:ln w="254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78992" y="313639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Criterio ReliefF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648456"/>
            <a:ext cx="46085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Attribuisce peso alle feature che rendono più simili i pazienti della stessa classe e più separati quelli di classi diverse.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297180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565392" y="3474720"/>
            <a:ext cx="4608576" cy="0"/>
          </a:xfrm>
          <a:prstGeom prst="line">
            <a:avLst/>
          </a:prstGeom>
          <a:noFill/>
          <a:ln w="254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565392" y="313639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Normalizzazione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65392" y="3648456"/>
            <a:ext cx="46085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Le feature vengono normalizzate prima di ReliefF perché l’algoritmo utilizza distanze tra campioni.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971800" y="4892040"/>
            <a:ext cx="6217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3136392" y="5394960"/>
            <a:ext cx="5888736" cy="0"/>
          </a:xfrm>
          <a:prstGeom prst="line">
            <a:avLst/>
          </a:prstGeom>
          <a:noFill/>
          <a:ln w="25400">
            <a:solidFill>
              <a:srgbClr val="CE7B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136392" y="5056632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Validation esterna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36392" y="5568696"/>
            <a:ext cx="588873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ValidationData_relief viene usato solo dopo l’export del modello da Classification Learner.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Risultati: confronto ReliefF 15 vs 30 feature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0607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87A"/>
                </a:solidFill>
              </a:rPr>
              <a:t>Split 70/30 • Validation: 15 dementi + 15 non dementi • Classificatore: Fine KNN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42"/>
                </a:solidFill>
              </a:rPr>
              <a:t>15 feature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687A"/>
                </a:solidFill>
              </a:rPr>
              <a:t>Predetto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2687A"/>
                </a:solidFill>
              </a:rPr>
              <a:t>demente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931920" y="1965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2687A"/>
                </a:solidFill>
              </a:rPr>
              <a:t>non_demente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86384" y="2587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2687A"/>
                </a:solidFill>
              </a:rPr>
              <a:t>demente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86384" y="37764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2687A"/>
                </a:solidFill>
              </a:rPr>
              <a:t>non_demente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011680" y="2331720"/>
            <a:ext cx="1920240" cy="1188720"/>
          </a:xfrm>
          <a:prstGeom prst="rect">
            <a:avLst/>
          </a:prstGeom>
          <a:solidFill>
            <a:srgbClr val="2E86C1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011680" y="2825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31920" y="2331720"/>
            <a:ext cx="1920240" cy="1188720"/>
          </a:xfrm>
          <a:prstGeom prst="rect">
            <a:avLst/>
          </a:prstGeom>
          <a:solidFill>
            <a:srgbClr val="B45A1D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931920" y="2825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11680" y="3520440"/>
            <a:ext cx="1920240" cy="1188720"/>
          </a:xfrm>
          <a:prstGeom prst="rect">
            <a:avLst/>
          </a:prstGeom>
          <a:solidFill>
            <a:srgbClr val="B45A1D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011680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31920" y="3520440"/>
            <a:ext cx="1920240" cy="1188720"/>
          </a:xfrm>
          <a:prstGeom prst="rect">
            <a:avLst/>
          </a:prstGeom>
          <a:solidFill>
            <a:srgbClr val="2E86C1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931920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144475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42"/>
                </a:solidFill>
              </a:rPr>
              <a:t>30 feature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687A"/>
                </a:solidFill>
              </a:rPr>
              <a:t>Predetto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1965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2687A"/>
                </a:solidFill>
              </a:rPr>
              <a:t>demente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9464040" y="1965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2687A"/>
                </a:solidFill>
              </a:rPr>
              <a:t>non_demente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318504" y="2587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2687A"/>
                </a:solidFill>
              </a:rPr>
              <a:t>demente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318504" y="37764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2687A"/>
                </a:solidFill>
              </a:rPr>
              <a:t>non_demente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543800" y="2331720"/>
            <a:ext cx="1920240" cy="1188720"/>
          </a:xfrm>
          <a:prstGeom prst="rect">
            <a:avLst/>
          </a:prstGeom>
          <a:solidFill>
            <a:srgbClr val="2E86C1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543800" y="2825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64040" y="2331720"/>
            <a:ext cx="1920240" cy="1188720"/>
          </a:xfrm>
          <a:prstGeom prst="rect">
            <a:avLst/>
          </a:prstGeom>
          <a:solidFill>
            <a:srgbClr val="B45A1D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9464040" y="2825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43800" y="3520440"/>
            <a:ext cx="1920240" cy="1188720"/>
          </a:xfrm>
          <a:prstGeom prst="rect">
            <a:avLst/>
          </a:prstGeom>
          <a:solidFill>
            <a:srgbClr val="B45A1D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7543800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464040" y="3520440"/>
            <a:ext cx="1920240" cy="1188720"/>
          </a:xfrm>
          <a:prstGeom prst="rect">
            <a:avLst/>
          </a:prstGeom>
          <a:solidFill>
            <a:srgbClr val="2E86C1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464040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5074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Confronto metriche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29000" y="5074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687A"/>
                </a:solidFill>
              </a:rPr>
              <a:t>15 feat.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17720" y="5074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687A"/>
                </a:solidFill>
              </a:rPr>
              <a:t>30 feat.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89320" y="50749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687A"/>
                </a:solidFill>
              </a:rPr>
              <a:t>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" y="53766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42"/>
                </a:solidFill>
              </a:rPr>
              <a:t>Accuracy validation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74720" y="53766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3042"/>
                </a:solidFill>
              </a:rPr>
              <a:t>60.00%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53766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3042"/>
                </a:solidFill>
              </a:rPr>
              <a:t>63.33%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52160" y="5376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57"/>
                </a:solidFill>
              </a:rPr>
              <a:t>+3.33%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56875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42"/>
                </a:solidFill>
              </a:rPr>
              <a:t>Sensibilità demente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74720" y="56875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3042"/>
                </a:solidFill>
              </a:rPr>
              <a:t>93.33%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63440" y="56875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3042"/>
                </a:solidFill>
              </a:rPr>
              <a:t>86.67%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852160" y="56875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E7B2C"/>
                </a:solidFill>
              </a:rPr>
              <a:t>-6.66%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14400" y="5998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42"/>
                </a:solidFill>
              </a:rPr>
              <a:t>Riconoscimento non_demente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474720" y="5998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3042"/>
                </a:solidFill>
              </a:rPr>
              <a:t>26.67%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63440" y="5998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3042"/>
                </a:solidFill>
              </a:rPr>
              <a:t>40.00%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852160" y="59984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57"/>
                </a:solidFill>
              </a:rPr>
              <a:t>+13.33%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0" y="50749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3" name="Shape 51"/>
          <p:cNvSpPr/>
          <p:nvPr/>
        </p:nvSpPr>
        <p:spPr>
          <a:xfrm>
            <a:off x="7479792" y="5577840"/>
            <a:ext cx="3602736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7479792" y="52395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Interpretazione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479792" y="5751576"/>
            <a:ext cx="36027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La configurazione a 30 feature riduce lo sbilanciamento e migliora il riconoscimento dei non dementi.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Interpretazione critica e conclusioni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96112" y="1783080"/>
            <a:ext cx="2962656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96112" y="144475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Risultato principale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1956816"/>
            <a:ext cx="29626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L’aumento da 15 a 30 feature porta l’accuracy da 60.00% a 63.33% e migliora la classe non_demente.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99432" y="1783080"/>
            <a:ext cx="2962656" cy="0"/>
          </a:xfrm>
          <a:prstGeom prst="line">
            <a:avLst/>
          </a:prstGeom>
          <a:noFill/>
          <a:ln w="25400">
            <a:solidFill>
              <a:srgbClr val="CE7B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99432" y="144475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Limite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1956816"/>
            <a:ext cx="29626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Il dataset è ridotto rispetto al numero di feature; la sola accuracy non basta per giudicare il modello.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2962656" cy="0"/>
          </a:xfrm>
          <a:prstGeom prst="line">
            <a:avLst/>
          </a:prstGeom>
          <a:noFill/>
          <a:ln w="254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302752" y="144475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Punto forte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1956816"/>
            <a:ext cx="29626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La pipeline evita data leakage: split prima di ReliefF e validation esterna dopo l’export del modello.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6EA4"/>
                </a:solidFill>
              </a:rPr>
              <a:t>Conclusione operativa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102412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radiomica permette di trasformare la ROI in un set di variabili quantitative.</a:t>
            </a:r>
            <a:endParaRPr lang="en-US" sz="1500" dirty="0"/>
          </a:p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preprocessing geometrico è decisivo per una feature extraction affidabile.</a:t>
            </a:r>
            <a:endParaRPr lang="en-US" sz="1500" dirty="0"/>
          </a:p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ReliefF con 30 feature è preferibile alla selezione a 15 feature.</a:t>
            </a:r>
            <a:endParaRPr lang="en-US" sz="1500" dirty="0"/>
          </a:p>
          <a:p>
            <a:r>
              <a:rPr lang="en-US" sz="15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Ulteriori modelli SVM/Ensemble e dataset più ampi sono necessari per una validazione robusta.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87044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2687A"/>
                </a:solidFill>
              </a:rPr>
              <a:t>Nota metodologica: il risultato va interpretato come pipeline dimostrativa, non come modello clinico definitivo.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Traccia orale essenziale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960120" cy="0"/>
          </a:xfrm>
          <a:prstGeom prst="line">
            <a:avLst/>
          </a:prstGeom>
          <a:noFill/>
          <a:ln w="38100">
            <a:solidFill>
              <a:srgbClr val="69C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6483096"/>
            <a:ext cx="111556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 ESIB • Analisi radiomica MRI cerebrali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033272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1–2: introdurre obiettivo e razionale radiomico del progetto.</a:t>
            </a:r>
            <a:endParaRPr lang="en-US" sz="1600" dirty="0"/>
          </a:p>
          <a:p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3–5: spiegare segmentazione, passaggio a Python e problema geometrico.</a:t>
            </a:r>
            <a:endParaRPr lang="en-US" sz="1600" dirty="0"/>
          </a:p>
          <a:p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6–7: mostrare il confronto con/senza resampling nei due casi.</a:t>
            </a:r>
            <a:endParaRPr lang="en-US" sz="1600" dirty="0"/>
          </a:p>
          <a:p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8–10: descrivere estrazione feature, workflow MATLAB e ReliefF.</a:t>
            </a:r>
            <a:endParaRPr lang="en-US" sz="1600" dirty="0"/>
          </a:p>
          <a:p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 commentare il confronto 15 vs 30 feature e la matrice di confusione.</a:t>
            </a:r>
            <a:endParaRPr lang="en-US" sz="1600" dirty="0"/>
          </a:p>
          <a:p>
            <a:r>
              <a:rPr lang="en-US" sz="1600" dirty="0">
                <a:solidFill>
                  <a:srgbClr val="16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12: chiudere con limiti, interpretazione critica e sviluppi futuri.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5623560"/>
            <a:ext cx="9601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blurRad="1778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1444752" y="6126480"/>
            <a:ext cx="9272016" cy="0"/>
          </a:xfrm>
          <a:prstGeom prst="line">
            <a:avLst/>
          </a:prstGeom>
          <a:noFill/>
          <a:ln w="25400">
            <a:solidFill>
              <a:srgbClr val="1C6E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444752" y="5788152"/>
            <a:ext cx="9272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42"/>
                </a:solidFill>
              </a:rPr>
              <a:t>Messaggio finale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4752" y="6300216"/>
            <a:ext cx="927201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87A"/>
                </a:solidFill>
              </a:rPr>
              <a:t>La pipeline è metodologicamente corretta e riproducibile; i risultati sono preliminari e vanno consolidati con dataset più ampi.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1489</Words>
  <Application>Microsoft Macintosh PowerPoint</Application>
  <PresentationFormat>Widescreen</PresentationFormat>
  <Paragraphs>238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radiomica e classificazione MRI cerebrali</dc:title>
  <dc:subject>Project Work ESIB - Radiomica MRI e Machine Learning</dc:subject>
  <dc:creator>OpenAI</dc:creator>
  <cp:lastModifiedBy>ALESSIO MARMO</cp:lastModifiedBy>
  <cp:revision>2</cp:revision>
  <dcterms:created xsi:type="dcterms:W3CDTF">2026-06-05T18:13:51Z</dcterms:created>
  <dcterms:modified xsi:type="dcterms:W3CDTF">2026-06-05T19:20:49Z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2026-06-05T19:20:49Z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66514845-ecab-46fe-ab12-6fac9af628b7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